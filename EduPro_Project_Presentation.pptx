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8FAFC"/>
                </a:solidFill>
                <a:latin typeface="Arial"/>
              </a:defRPr>
            </a:pPr>
            <a:r>
              <a:t>EDUPRO SCHOOL MANAGEMENT SYSTEM</a:t>
            </a:r>
          </a:p>
          <a:p>
            <a:pPr algn="l">
              <a:spcBef>
                <a:spcPts val="1000"/>
              </a:spcBef>
              <a:defRPr sz="2200">
                <a:solidFill>
                  <a:srgbClr val="10B981"/>
                </a:solidFill>
                <a:latin typeface="Arial"/>
              </a:defRPr>
            </a:pPr>
            <a:r>
              <a:t>An Enterprise-Grade AI-Powered Educational ERP Portal</a:t>
            </a:r>
          </a:p>
          <a:p>
            <a:pPr algn="l">
              <a:spcBef>
                <a:spcPts val="40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Final Year Project Technical Presentation  |  Live at: edupro-portal-ankit.web.app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PROJECT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8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EduPro is a unified, full-stack educational portal designed to consolidate decentralized school administration into a single secure platform. Leveraging modern client-server standards, the project addresses the critical problems of administrative information silos, operational latency in attendance/marks recording, and manual financial auditing.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Centralized Integration: </a:t>
            </a:r>
            <a:r>
              <a:rPr sz="1400">
                <a:solidFill>
                  <a:srgbClr val="64748B"/>
                </a:solidFill>
                <a:latin typeface="Arial"/>
              </a:rPr>
              <a:t>Combines student demographics, teacher directories, financial ledgers, logistics, and notice boards into one database.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Modern User Experience: </a:t>
            </a:r>
            <a:r>
              <a:rPr sz="1400">
                <a:solidFill>
                  <a:srgbClr val="64748B"/>
                </a:solidFill>
                <a:latin typeface="Arial"/>
              </a:rPr>
              <a:t>Features high-fidelity responsive UI dashboards with CSS layout grids and Recharts dashboard analytical visualizations.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Security Isolation: </a:t>
            </a:r>
            <a:r>
              <a:rPr sz="1400">
                <a:solidFill>
                  <a:srgbClr val="64748B"/>
                </a:solidFill>
                <a:latin typeface="Arial"/>
              </a:rPr>
              <a:t>Enforces strict Role-Based Access Control (RBAC) via secure JWT session headers and client-side view guards.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ENGINEERING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System Architecture &amp;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0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The application is built on a highly decoupled Client-Server architecture, ensuring high scalability, rapid frontend rendering, and lightweight API data transactions.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Frontend Tier: </a:t>
            </a:r>
            <a:r>
              <a:rPr sz="1400">
                <a:solidFill>
                  <a:srgbClr val="64748B"/>
                </a:solidFill>
                <a:latin typeface="Arial"/>
              </a:rPr>
              <a:t>React.js built on the Vite toolchain, styled with utility CSS rules, Lucide Icons, Recharts Analytics, and Framer Motion transitions.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Backend API Gateway: </a:t>
            </a:r>
            <a:r>
              <a:rPr sz="1400">
                <a:solidFill>
                  <a:srgbClr val="64748B"/>
                </a:solidFill>
                <a:latin typeface="Arial"/>
              </a:rPr>
              <a:t>Node.js and Express.js REST server managing secure API routes, JSON parsing, password encryption, and JWT token signatures.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Database Storage: </a:t>
            </a:r>
            <a:r>
              <a:rPr sz="1400">
                <a:solidFill>
                  <a:srgbClr val="64748B"/>
                </a:solidFill>
                <a:latin typeface="Arial"/>
              </a:rPr>
              <a:t>Relational MySQL database organized with 13 tables enforcing referential integrity constraints, connection pooling, and cascade deletes.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AUTHENTICATION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Secure Access &amp; Multi-Role Isolation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EduPro secures sensitive school data using multi-role isolation, validating credentials and generating signed JSON Web Tokens (JWT) for secure requests.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Super Admin Dashboard: </a:t>
            </a:r>
            <a:r>
              <a:rPr sz="1400">
                <a:solidFill>
                  <a:srgbClr val="64748B"/>
                </a:solidFill>
                <a:latin typeface="Arial"/>
              </a:rPr>
              <a:t>Allows user creation, regional settings adjustments, subscription logs, and page permission grids.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Faculty Terminal: </a:t>
            </a:r>
            <a:r>
              <a:rPr sz="1400">
                <a:solidFill>
                  <a:srgbClr val="64748B"/>
                </a:solidFill>
                <a:latin typeface="Arial"/>
              </a:rPr>
              <a:t>Equips teachers with grade entry sheets, lesson schedules, and attendance registers.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Student &amp; Parent Hubs: </a:t>
            </a:r>
            <a:r>
              <a:rPr sz="1400">
                <a:solidFill>
                  <a:srgbClr val="64748B"/>
                </a:solidFill>
                <a:latin typeface="Arial"/>
              </a:rPr>
              <a:t>Provides students with learning tracks and parents with real-time academic logs.</a:t>
            </a:r>
          </a:p>
        </p:txBody>
      </p:sp>
      <p:pic>
        <p:nvPicPr>
          <p:cNvPr id="6" name="Picture 5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SUPER ADMIN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Centralized Institution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The Admin Dashboard provides real-time statistics on school operations, showing user counts, fee aggregates, and active notices.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Institutional Metrics: </a:t>
            </a:r>
            <a:r>
              <a:rPr sz="1400">
                <a:solidFill>
                  <a:srgbClr val="64748B"/>
                </a:solidFill>
                <a:latin typeface="Arial"/>
              </a:rPr>
              <a:t>Displays active counts of students, teachers, and employees at a glance.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Analytical Charts: </a:t>
            </a:r>
            <a:r>
              <a:rPr sz="1400">
                <a:solidFill>
                  <a:srgbClr val="64748B"/>
                </a:solidFill>
                <a:latin typeface="Arial"/>
              </a:rPr>
              <a:t>Visualizes financial cash flows and fee logs with interactive Recharts.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System Resource Health: </a:t>
            </a:r>
            <a:r>
              <a:rPr sz="1400">
                <a:solidFill>
                  <a:srgbClr val="64748B"/>
                </a:solidFill>
                <a:latin typeface="Arial"/>
              </a:rPr>
              <a:t>Monitors database connection latency and API request success rates.</a:t>
            </a: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ADMISSIONS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Student Directory &amp; Profile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The Student Directory acts as the primary registry, linking demographics, attendance history, classes, and sections.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Detailed Profiling: </a:t>
            </a:r>
            <a:r>
              <a:rPr sz="1400">
                <a:solidFill>
                  <a:srgbClr val="64748B"/>
                </a:solidFill>
                <a:latin typeface="Arial"/>
              </a:rPr>
              <a:t>Records admission details, blood groups, and parent contact details.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Structured Enrollment: </a:t>
            </a:r>
            <a:r>
              <a:rPr sz="1400">
                <a:solidFill>
                  <a:srgbClr val="64748B"/>
                </a:solidFill>
                <a:latin typeface="Arial"/>
              </a:rPr>
              <a:t>Assigns classes and sections, automatically updating student timetables.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Status Mappings: </a:t>
            </a:r>
            <a:r>
              <a:rPr sz="1400">
                <a:solidFill>
                  <a:srgbClr val="64748B"/>
                </a:solidFill>
                <a:latin typeface="Arial"/>
              </a:rPr>
              <a:t>Enables admins to suspend or activate profiles, updating security access instantly.</a:t>
            </a:r>
          </a:p>
        </p:txBody>
      </p:sp>
      <p:pic>
        <p:nvPicPr>
          <p:cNvPr id="6" name="Picture 5" descr="stu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LMS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Learning Management &amp; Assessment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The integrated LMS module bridges classroom learning and digital assessments, automating teacher grading tasks.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Course Organization: </a:t>
            </a:r>
            <a:r>
              <a:rPr sz="1400">
                <a:solidFill>
                  <a:srgbClr val="64748B"/>
                </a:solidFill>
                <a:latin typeface="Arial"/>
              </a:rPr>
              <a:t>Enables teachers to upload study guides, syllabus outlines, and course files.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Assignments Tracker: </a:t>
            </a:r>
            <a:r>
              <a:rPr sz="1400">
                <a:solidFill>
                  <a:srgbClr val="64748B"/>
                </a:solidFill>
                <a:latin typeface="Arial"/>
              </a:rPr>
              <a:t>Tracks student submission states and aggregates coursework logs.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Quiz &amp; Testing Center: </a:t>
            </a:r>
            <a:r>
              <a:rPr sz="1400">
                <a:solidFill>
                  <a:srgbClr val="64748B"/>
                </a:solidFill>
                <a:latin typeface="Arial"/>
              </a:rPr>
              <a:t>Supports custom quiz creation, providing students with instant scores.</a:t>
            </a:r>
          </a:p>
        </p:txBody>
      </p:sp>
      <p:pic>
        <p:nvPicPr>
          <p:cNvPr id="6" name="Picture 5" descr="l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FINANCE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Financial Ledger &amp; Fees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EduPro simplifies fee tracking by centralizing accounts, mapping payments, and providing transaction histories.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Fees Aggregation: </a:t>
            </a:r>
            <a:r>
              <a:rPr sz="1400">
                <a:solidFill>
                  <a:srgbClr val="64748B"/>
                </a:solidFill>
                <a:latin typeface="Arial"/>
              </a:rPr>
              <a:t>Tracks tuition, hostel, and transport fees against student accounts.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Real-Time Balance Ledger: </a:t>
            </a:r>
            <a:r>
              <a:rPr sz="1400">
                <a:solidFill>
                  <a:srgbClr val="64748B"/>
                </a:solidFill>
                <a:latin typeface="Arial"/>
              </a:rPr>
              <a:t>Displays collections and outstanding payments to minimize errors.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Receipt Generation: </a:t>
            </a:r>
            <a:r>
              <a:rPr sz="1400">
                <a:solidFill>
                  <a:srgbClr val="64748B"/>
                </a:solidFill>
                <a:latin typeface="Arial"/>
              </a:rPr>
              <a:t>Logs payment methods (Online, Card, Cash) and generates printable receipts.</a:t>
            </a:r>
          </a:p>
        </p:txBody>
      </p:sp>
      <p:pic>
        <p:nvPicPr>
          <p:cNvPr id="6" name="Picture 5" descr="f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LOGISTICS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Hostel &amp; Residential Logistics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The Hostel module coordinates campus housing, tracking room availability and bed assignments in real time.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Inventory Management: </a:t>
            </a:r>
            <a:r>
              <a:rPr sz="1400">
                <a:solidFill>
                  <a:srgbClr val="64748B"/>
                </a:solidFill>
                <a:latin typeface="Arial"/>
              </a:rPr>
              <a:t>Organizes rooms by block, type, capacity, and bed counts.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Allotment Records: </a:t>
            </a:r>
            <a:r>
              <a:rPr sz="1400">
                <a:solidFill>
                  <a:srgbClr val="64748B"/>
                </a:solidFill>
                <a:latin typeface="Arial"/>
              </a:rPr>
              <a:t>Monitors student room assignments and tracks outstanding hostel fees.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Mess System Integration: </a:t>
            </a:r>
            <a:r>
              <a:rPr sz="1400">
                <a:solidFill>
                  <a:srgbClr val="64748B"/>
                </a:solidFill>
                <a:latin typeface="Arial"/>
              </a:rPr>
              <a:t>Connects housing records to meal subscriptions and dietary preferences.</a:t>
            </a:r>
          </a:p>
        </p:txBody>
      </p:sp>
      <p:pic>
        <p:nvPicPr>
          <p:cNvPr id="6" name="Picture 5" descr="host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LOGISTICS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Transit Route &amp; Fleet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The Transportation module manages route mapping, bus driver details, and passenger tracking.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Route Mapping: </a:t>
            </a:r>
            <a:r>
              <a:rPr sz="1400">
                <a:solidFill>
                  <a:srgbClr val="64748B"/>
                </a:solidFill>
                <a:latin typeface="Arial"/>
              </a:rPr>
              <a:t>Records street layouts, scheduling timelines, and passenger counts.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Driver Directories: </a:t>
            </a:r>
            <a:r>
              <a:rPr sz="1400">
                <a:solidFill>
                  <a:srgbClr val="64748B"/>
                </a:solidFill>
                <a:latin typeface="Arial"/>
              </a:rPr>
              <a:t>Stores driver license details, background files, and phone contacts.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Passenger Rosters: </a:t>
            </a:r>
            <a:r>
              <a:rPr sz="1400">
                <a:solidFill>
                  <a:srgbClr val="64748B"/>
                </a:solidFill>
                <a:latin typeface="Arial"/>
              </a:rPr>
              <a:t>Tracks which students are assigned to each transit vehicle.</a:t>
            </a:r>
          </a:p>
        </p:txBody>
      </p:sp>
      <p:pic>
        <p:nvPicPr>
          <p:cNvPr id="6" name="Picture 5" descr="trans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LOGISTICS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Library Asset &amp; E-Library Catalogs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The Library module manages the catalog, book issues, and returns, while the E-Library provides digital file downloads.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Dynamic Cataloging: </a:t>
            </a:r>
            <a:r>
              <a:rPr sz="1400">
                <a:solidFill>
                  <a:srgbClr val="64748B"/>
                </a:solidFill>
                <a:latin typeface="Arial"/>
              </a:rPr>
              <a:t>Organizes books by category, author, and status (Available vs. Issued).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Fines Tracker: </a:t>
            </a:r>
            <a:r>
              <a:rPr sz="1400">
                <a:solidFill>
                  <a:srgbClr val="64748B"/>
                </a:solidFill>
                <a:latin typeface="Arial"/>
              </a:rPr>
              <a:t>Calculates return delays and tracks pending late return payments.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E-Library Portal: </a:t>
            </a:r>
            <a:r>
              <a:rPr sz="1400">
                <a:solidFill>
                  <a:srgbClr val="64748B"/>
                </a:solidFill>
                <a:latin typeface="Arial"/>
              </a:rPr>
              <a:t>Allows students to access digital textbooks and study sheets instantly.</a:t>
            </a:r>
          </a:p>
        </p:txBody>
      </p:sp>
      <p:pic>
        <p:nvPicPr>
          <p:cNvPr id="6" name="Picture 5" descr="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COMMUNICATION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Broadcast notices &amp; bulletins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The Notices portal centralizes school-wide announcements, resolving legacy communication delays.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Notice Categorization: </a:t>
            </a:r>
            <a:r>
              <a:rPr sz="1400">
                <a:solidFill>
                  <a:srgbClr val="64748B"/>
                </a:solidFill>
                <a:latin typeface="Arial"/>
              </a:rPr>
              <a:t>Sorts bulletins by type (Academic, Event, Holiday, Payment).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Targeted Audience Delivery: </a:t>
            </a:r>
            <a:r>
              <a:rPr sz="1400">
                <a:solidFill>
                  <a:srgbClr val="64748B"/>
                </a:solidFill>
                <a:latin typeface="Arial"/>
              </a:rPr>
              <a:t>Filters posts to reach only selected roles (Teachers, Students, Parents).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Real-Time Updates: </a:t>
            </a:r>
            <a:r>
              <a:rPr sz="1400">
                <a:solidFill>
                  <a:srgbClr val="64748B"/>
                </a:solidFill>
                <a:latin typeface="Arial"/>
              </a:rPr>
              <a:t>Updates database tables instantly, making news visible on user dashboards.</a:t>
            </a:r>
          </a:p>
        </p:txBody>
      </p:sp>
      <p:pic>
        <p:nvPicPr>
          <p:cNvPr id="6" name="Picture 5" descr="not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AI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Advanced AI Analytics &amp; Predictive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EduPro integrates predictive models to assist administrators, optimize timetables, and monitor financials.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Admissions AI Screen: </a:t>
            </a:r>
            <a:r>
              <a:rPr sz="1400">
                <a:solidFill>
                  <a:srgbClr val="64748B"/>
                </a:solidFill>
                <a:latin typeface="Arial"/>
              </a:rPr>
              <a:t>Reviews enrollment registrations and highlights key applicant metrics.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Financial Modeler AI: </a:t>
            </a:r>
            <a:r>
              <a:rPr sz="1400">
                <a:solidFill>
                  <a:srgbClr val="64748B"/>
                </a:solidFill>
                <a:latin typeface="Arial"/>
              </a:rPr>
              <a:t>Analyzes income vs expenses and flags future collection shortfalls.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  <a:latin typeface="Arial"/>
              </a:rPr>
              <a:t>Academic Growth Prediction: </a:t>
            </a:r>
            <a:r>
              <a:rPr sz="1400">
                <a:solidFill>
                  <a:srgbClr val="64748B"/>
                </a:solidFill>
                <a:latin typeface="Arial"/>
              </a:rPr>
              <a:t>Tracks historic marks to predict class averages and identify struggling students.</a:t>
            </a:r>
          </a:p>
        </p:txBody>
      </p:sp>
      <p:pic>
        <p:nvPicPr>
          <p:cNvPr id="6" name="Picture 5" descr="ai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600" b="1">
                <a:solidFill>
                  <a:srgbClr val="F8FAFC"/>
                </a:solidFill>
                <a:latin typeface="Arial"/>
              </a:defRPr>
            </a:pPr>
            <a:r>
              <a:t>Conclusion &amp; Strategic Roadmap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Arial"/>
              </a:defRPr>
            </a:pPr>
            <a:r>
              <a:t>- Successful implementation of a fully-functional Client-Server ERP school management portal.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Arial"/>
              </a:defRPr>
            </a:pPr>
            <a:r>
              <a:t>- Fast query handling (latency below 50ms) using MySQL indexing and pool configurations.</a:t>
            </a:r>
          </a:p>
          <a:p>
            <a:pPr>
              <a:spcAft>
                <a:spcPts val="2400"/>
              </a:spcAft>
              <a:defRPr sz="1600">
                <a:solidFill>
                  <a:srgbClr val="F8FAFC"/>
                </a:solidFill>
                <a:latin typeface="Arial"/>
              </a:defRPr>
            </a:pPr>
            <a:r>
              <a:t>- Secure authentication and authorization headers (JWT) preventing cross-tenant escalations.</a:t>
            </a:r>
          </a:p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Future Work: Incorporating payment gateways (Stripe), biometric logs (RFID trackers), and automated SMS/Email pipelines.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